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0feabe1f08b4a38" /><Relationship Type="http://schemas.openxmlformats.org/officeDocument/2006/relationships/extended-properties" Target="/docProps/app.xml" Id="R958e0af17f154eb6" /><Relationship Type="http://schemas.openxmlformats.org/officeDocument/2006/relationships/officeDocument" Target="/ppt/presentation.xml" Id="Rd10d71dd985342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66c87f10ae249ed"/>
  </p:sldMasterIdLst>
  <p:notesMasterIdLst>
    <p:notesMasterId xmlns:r="http://schemas.openxmlformats.org/officeDocument/2006/relationships" r:id="Reafb81a27b164924"/>
  </p:notesMasterIdLst>
  <p:sldIdLst>
    <p:sldId xmlns:r="http://schemas.openxmlformats.org/officeDocument/2006/relationships" id="256" r:id="R7f8f30bf2a9a4875"/>
    <p:sldId xmlns:r="http://schemas.openxmlformats.org/officeDocument/2006/relationships" id="257" r:id="R7a308a96fcaf4d0e"/>
    <p:sldId xmlns:r="http://schemas.openxmlformats.org/officeDocument/2006/relationships" id="258" r:id="R63f2369c02cc43a9"/>
    <p:sldId xmlns:r="http://schemas.openxmlformats.org/officeDocument/2006/relationships" id="259" r:id="Rd76852d43b224379"/>
    <p:sldId xmlns:r="http://schemas.openxmlformats.org/officeDocument/2006/relationships" id="260" r:id="Rc5d12aa795294de0"/>
    <p:sldId xmlns:r="http://schemas.openxmlformats.org/officeDocument/2006/relationships" id="261" r:id="R32c4798bde80403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8d066209ded4a36" /><Relationship Type="http://schemas.openxmlformats.org/officeDocument/2006/relationships/slideMaster" Target="/ppt/slideMasters/slideMaster1.xml" Id="Rd66c87f10ae249ed" /><Relationship Type="http://schemas.openxmlformats.org/officeDocument/2006/relationships/notesMaster" Target="/ppt/notesMasters/notesMaster1.xml" Id="Reafb81a27b164924" /><Relationship Type="http://schemas.openxmlformats.org/officeDocument/2006/relationships/presProps" Target="/ppt/presProps.xml" Id="R6a62d98b212343b4" /><Relationship Type="http://schemas.openxmlformats.org/officeDocument/2006/relationships/tableStyles" Target="/ppt/tableStyles.xml" Id="R94703b95422b43db" /><Relationship Type="http://schemas.openxmlformats.org/officeDocument/2006/relationships/slide" Target="/ppt/slides/slide1.xml" Id="R7f8f30bf2a9a4875" /><Relationship Type="http://schemas.openxmlformats.org/officeDocument/2006/relationships/slide" Target="/ppt/slides/slide2.xml" Id="R7a308a96fcaf4d0e" /><Relationship Type="http://schemas.openxmlformats.org/officeDocument/2006/relationships/slide" Target="/ppt/slides/slide3.xml" Id="R63f2369c02cc43a9" /><Relationship Type="http://schemas.openxmlformats.org/officeDocument/2006/relationships/slide" Target="/ppt/slides/slide4.xml" Id="Rd76852d43b224379" /><Relationship Type="http://schemas.openxmlformats.org/officeDocument/2006/relationships/slide" Target="/ppt/slides/slide5.xml" Id="Rc5d12aa795294de0" /><Relationship Type="http://schemas.openxmlformats.org/officeDocument/2006/relationships/slide" Target="/ppt/slides/slide6.xml" Id="R32c4798bde8040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79ab5b090fb45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d23272f90f74d0d" /><Relationship Type="http://schemas.openxmlformats.org/officeDocument/2006/relationships/notesMaster" Target="/ppt/notesMasters/notesMaster1.xml" Id="R2d68915a726548e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1da818ef1c6435e" /><Relationship Type="http://schemas.openxmlformats.org/officeDocument/2006/relationships/notesMaster" Target="/ppt/notesMasters/notesMaster1.xml" Id="R22d48d4ab92540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56c53996abf4549" /><Relationship Type="http://schemas.openxmlformats.org/officeDocument/2006/relationships/notesMaster" Target="/ppt/notesMasters/notesMaster1.xml" Id="Rf4b8f7732a8747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c23731be0a4607" /><Relationship Type="http://schemas.openxmlformats.org/officeDocument/2006/relationships/notesMaster" Target="/ppt/notesMasters/notesMaster1.xml" Id="R9bfa4767378140b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8d23bbb4aa448ef" /><Relationship Type="http://schemas.openxmlformats.org/officeDocument/2006/relationships/notesMaster" Target="/ppt/notesMasters/notesMaster1.xml" Id="R1ec2d01259d447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ab9b80b1e8a45c1" /><Relationship Type="http://schemas.openxmlformats.org/officeDocument/2006/relationships/notesMaster" Target="/ppt/notesMasters/notesMaster1.xml" Id="R602db962f8064e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53105476634f8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a98efb78444066" /><Relationship Type="http://schemas.openxmlformats.org/officeDocument/2006/relationships/slideLayout" Target="/ppt/slideLayouts/slideLayout1.xml" Id="Rbdd191eaadde40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dd191eaadde40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49fc4b07b1409e" /><Relationship Type="http://schemas.openxmlformats.org/officeDocument/2006/relationships/notesSlide" Target="/ppt/notesSlides/notesSlide1.xml" Id="Rfb5e384536e042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08fe9511794f3e" /><Relationship Type="http://schemas.openxmlformats.org/officeDocument/2006/relationships/notesSlide" Target="/ppt/notesSlides/notesSlide2.xml" Id="R697076ad7cbb417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c72d6a460043d9" /><Relationship Type="http://schemas.openxmlformats.org/officeDocument/2006/relationships/notesSlide" Target="/ppt/notesSlides/notesSlide3.xml" Id="R0c3b5ace957e47b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39b9ef2164a6e" /><Relationship Type="http://schemas.openxmlformats.org/officeDocument/2006/relationships/notesSlide" Target="/ppt/notesSlides/notesSlide4.xml" Id="Ra9dd4c73cc51451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1e830ddcf49cb" /><Relationship Type="http://schemas.openxmlformats.org/officeDocument/2006/relationships/notesSlide" Target="/ppt/notesSlides/notesSlide5.xml" Id="Rc0bdc25894a7406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0755fba35148a3" /><Relationship Type="http://schemas.openxmlformats.org/officeDocument/2006/relationships/notesSlide" Target="/ppt/notesSlides/notesSlide6.xml" Id="R7ddbd42916d24e7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B878546C-178C-4004-A1B4-42078B8B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step">
            <a:extLst xmlns:a="http://schemas.openxmlformats.org/drawingml/2006/main">
              <a:ext uri="{FF2B5EF4-FFF2-40B4-BE49-F238E27FC236}">
                <a16:creationId xmlns:a16="http://schemas.microsoft.com/office/drawing/2014/main" id="{5BC9948C-E8DC-460E-B3BE-8035E7D8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E8F9"/>
                </a:solidFill>
              </a:defRPr>
            </a:pPr>
            <a:r>
              <a:rPr sz="1350" b="1">
                <a:solidFill>
                  <a:srgbClr val="67E8F9"/>
                </a:solidFill>
              </a:rPr>
              <a:t>员工登记 · 操作教程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E24E15-341E-4055-B39E-9AF2D42D1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员工登记与人脸录入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EACC3E64-95C2-4542-A474-492599929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4A3B8"/>
                </a:solidFill>
              </a:defRPr>
            </a:pPr>
            <a:r>
              <a:rPr sz="1650" b="0">
                <a:solidFill>
                  <a:srgbClr val="94A3B8"/>
                </a:solidFill>
              </a:rPr>
              <a:t>人事部统一注册 · 手机采集 · 审核后启用</a:t>
            </a:r>
          </a:p>
        </p:txBody>
      </p:sp>
      <p:sp>
        <p:nvSpPr>
          <p:cNvPr id="5" name="hero">
            <a:extLst xmlns:a="http://schemas.openxmlformats.org/drawingml/2006/main">
              <a:ext uri="{FF2B5EF4-FFF2-40B4-BE49-F238E27FC236}">
                <a16:creationId xmlns:a16="http://schemas.microsoft.com/office/drawing/2014/main" id="{F624D3C3-7A96-4FDA-8127-61C5BB037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6" name="hero-number">
            <a:extLst xmlns:a="http://schemas.openxmlformats.org/drawingml/2006/main">
              <a:ext uri="{FF2B5EF4-FFF2-40B4-BE49-F238E27FC236}">
                <a16:creationId xmlns:a16="http://schemas.microsoft.com/office/drawing/2014/main" id="{07F8CA2C-4777-4C98-A6B0-32EBA0411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95600"/>
            <a:ext cx="200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22D3EE"/>
                </a:solidFill>
              </a:defRPr>
            </a:pPr>
            <a:r>
              <a:rPr sz="8400" b="1">
                <a:solidFill>
                  <a:srgbClr val="22D3EE"/>
                </a:solidFill>
              </a:rPr>
              <a:t>6</a:t>
            </a:r>
          </a:p>
        </p:txBody>
      </p:sp>
      <p:sp>
        <p:nvSpPr>
          <p:cNvPr id="7" name="hero-label">
            <a:extLst xmlns:a="http://schemas.openxmlformats.org/drawingml/2006/main">
              <a:ext uri="{FF2B5EF4-FFF2-40B4-BE49-F238E27FC236}">
                <a16:creationId xmlns:a16="http://schemas.microsoft.com/office/drawing/2014/main" id="{3CB53D4A-B5D6-4B29-80AA-C95337E2F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E2E8F0"/>
                </a:solidFill>
              </a:defRPr>
            </a:pPr>
            <a:r>
              <a:rPr sz="1800" b="1">
                <a:solidFill>
                  <a:srgbClr val="E2E8F0"/>
                </a:solidFill>
              </a:rPr>
              <a:t>个步骤完成注册</a:t>
            </a:r>
          </a:p>
        </p:txBody>
      </p:sp>
      <p:sp>
        <p:nvSpPr>
          <p:cNvPr id="8" name="hero-copy">
            <a:extLst xmlns:a="http://schemas.openxmlformats.org/drawingml/2006/main">
              <a:ext uri="{FF2B5EF4-FFF2-40B4-BE49-F238E27FC236}">
                <a16:creationId xmlns:a16="http://schemas.microsoft.com/office/drawing/2014/main" id="{07292AA3-7FAF-49C4-828D-B8C1DB9F0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124200"/>
            <a:ext cx="7096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资料建档 → 身份核验 → 组织岗位 → 手机人脸采集 → HR审核 → 权限启用</a:t>
            </a:r>
          </a:p>
        </p:txBody>
      </p:sp>
      <p:sp>
        <p:nvSpPr>
          <p:cNvPr id="9" name="footer">
            <a:extLst xmlns:a="http://schemas.openxmlformats.org/drawingml/2006/main">
              <a:ext uri="{FF2B5EF4-FFF2-40B4-BE49-F238E27FC236}">
                <a16:creationId xmlns:a16="http://schemas.microsoft.com/office/drawing/2014/main" id="{634B3670-CDCC-457B-870C-90EECFE4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00750"/>
            <a:ext cx="857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4748B"/>
                </a:solidFill>
              </a:defRPr>
            </a:pPr>
            <a:r>
              <a:rPr sz="1350" b="0">
                <a:solidFill>
                  <a:srgbClr val="64748B"/>
                </a:solidFill>
              </a:rPr>
              <a:t>适用于人事部新员工登记与PDA快速登录</a:t>
            </a:r>
          </a:p>
        </p:txBody>
      </p:sp>
    </p:spTree>
    <p:extLst>
      <p:ext uri="{BB962C8B-B14F-4D97-AF65-F5344CB8AC3E}">
        <p14:creationId xmlns:p14="http://schemas.microsoft.com/office/powerpoint/2010/main" val="3077994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ccent">
            <a:extLst xmlns:a="http://schemas.openxmlformats.org/drawingml/2006/main">
              <a:ext uri="{FF2B5EF4-FFF2-40B4-BE49-F238E27FC236}">
                <a16:creationId xmlns:a16="http://schemas.microsoft.com/office/drawing/2014/main" id="{BD8DE3D7-3EA2-4D03-B621-769D33295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step">
            <a:extLst xmlns:a="http://schemas.openxmlformats.org/drawingml/2006/main">
              <a:ext uri="{FF2B5EF4-FFF2-40B4-BE49-F238E27FC236}">
                <a16:creationId xmlns:a16="http://schemas.microsoft.com/office/drawing/2014/main" id="{C5B2A7FC-C0AB-4CFC-BD6C-F889799DE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E8F9"/>
                </a:solidFill>
              </a:defRPr>
            </a:pPr>
            <a:r>
              <a:rPr sz="1350" b="1">
                <a:solidFill>
                  <a:srgbClr val="67E8F9"/>
                </a:solidFill>
              </a:rPr>
              <a:t>员工登记 · 01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9089B6-F169-465B-8F15-B22A05388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先建立唯一员工档案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C126196B-B337-4B05-B13A-082CF346A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4A3B8"/>
                </a:solidFill>
              </a:defRPr>
            </a:pPr>
            <a:r>
              <a:rPr sz="1650" b="0">
                <a:solidFill>
                  <a:srgbClr val="94A3B8"/>
                </a:solidFill>
              </a:rPr>
              <a:t>所有设备和系统只认同一个员工编号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53432A05-B185-4A49-9566-5B19D559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238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F33"/>
          </a:solidFill>
          <a:ln xmlns:a="http://schemas.openxmlformats.org/drawingml/2006/main" w="0">
            <a:solidFill>
              <a:srgbClr val="111F33"/>
            </a:solidFill>
            <a:prstDash val="solid"/>
          </a:ln>
        </p:spPr>
      </p:sp>
      <p:sp>
        <p:nvSpPr>
          <p:cNvPr id="6" name="no-1">
            <a:extLst xmlns:a="http://schemas.openxmlformats.org/drawingml/2006/main">
              <a:ext uri="{FF2B5EF4-FFF2-40B4-BE49-F238E27FC236}">
                <a16:creationId xmlns:a16="http://schemas.microsoft.com/office/drawing/2014/main" id="{E04167E8-8A64-4FE1-AB53-D398511D9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7" name="no-text-1">
            <a:extLst xmlns:a="http://schemas.openxmlformats.org/drawingml/2006/main">
              <a:ext uri="{FF2B5EF4-FFF2-40B4-BE49-F238E27FC236}">
                <a16:creationId xmlns:a16="http://schemas.microsoft.com/office/drawing/2014/main" id="{8D9B7C7C-8027-4B12-9BE5-51B591B8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479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34193AA3-A9B9-4ED1-84A0-E5D65CE75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输入基本资料</a:t>
            </a:r>
          </a:p>
        </p:txBody>
      </p:sp>
      <p:sp>
        <p:nvSpPr>
          <p:cNvPr id="9" name="card-body-1">
            <a:extLst xmlns:a="http://schemas.openxmlformats.org/drawingml/2006/main">
              <a:ext uri="{FF2B5EF4-FFF2-40B4-BE49-F238E27FC236}">
                <a16:creationId xmlns:a16="http://schemas.microsoft.com/office/drawing/2014/main" id="{C596925B-59C1-420D-AF60-4031BE06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姓名、员工编号、手机号、入职日期。必填项不完整不能提交。</a:t>
            </a:r>
          </a:p>
        </p:txBody>
      </p:sp>
      <p:sp>
        <p:nvSpPr>
          <p:cNvPr id="10" name="card-2">
            <a:extLst xmlns:a="http://schemas.openxmlformats.org/drawingml/2006/main">
              <a:ext uri="{FF2B5EF4-FFF2-40B4-BE49-F238E27FC236}">
                <a16:creationId xmlns:a16="http://schemas.microsoft.com/office/drawing/2014/main" id="{372E86F0-B80A-4F56-9602-B51A95A4E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F33"/>
          </a:solidFill>
          <a:ln xmlns:a="http://schemas.openxmlformats.org/drawingml/2006/main" w="0">
            <a:solidFill>
              <a:srgbClr val="111F33"/>
            </a:solidFill>
            <a:prstDash val="solid"/>
          </a:ln>
        </p:spPr>
      </p:sp>
      <p:sp>
        <p:nvSpPr>
          <p:cNvPr id="11" name="no-2">
            <a:extLst xmlns:a="http://schemas.openxmlformats.org/drawingml/2006/main">
              <a:ext uri="{FF2B5EF4-FFF2-40B4-BE49-F238E27FC236}">
                <a16:creationId xmlns:a16="http://schemas.microsoft.com/office/drawing/2014/main" id="{62FA00A4-84E2-42D2-B3FB-5B642D3E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12" name="no-text-2">
            <a:extLst xmlns:a="http://schemas.openxmlformats.org/drawingml/2006/main">
              <a:ext uri="{FF2B5EF4-FFF2-40B4-BE49-F238E27FC236}">
                <a16:creationId xmlns:a16="http://schemas.microsoft.com/office/drawing/2014/main" id="{891308FD-58F8-494D-87DD-7BD14636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479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87CEDB86-C08C-4B60-A85A-A46B410E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909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扫描身份证件</a:t>
            </a:r>
          </a:p>
        </p:txBody>
      </p:sp>
      <p:sp>
        <p:nvSpPr>
          <p:cNvPr id="14" name="card-body-2">
            <a:extLst xmlns:a="http://schemas.openxmlformats.org/drawingml/2006/main">
              <a:ext uri="{FF2B5EF4-FFF2-40B4-BE49-F238E27FC236}">
                <a16:creationId xmlns:a16="http://schemas.microsoft.com/office/drawing/2014/main" id="{5E98DD51-9B3E-4366-962F-2A4DFDE9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671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核对证件号码与本人一致。敏感信息只向授权HR人员显示。</a:t>
            </a:r>
          </a:p>
        </p:txBody>
      </p:sp>
      <p:sp>
        <p:nvSpPr>
          <p:cNvPr id="15" name="card-3">
            <a:extLst xmlns:a="http://schemas.openxmlformats.org/drawingml/2006/main">
              <a:ext uri="{FF2B5EF4-FFF2-40B4-BE49-F238E27FC236}">
                <a16:creationId xmlns:a16="http://schemas.microsoft.com/office/drawing/2014/main" id="{0A96CBA9-4B75-4EBB-9B63-66C1DB0A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3238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F33"/>
          </a:solidFill>
          <a:ln xmlns:a="http://schemas.openxmlformats.org/drawingml/2006/main" w="0">
            <a:solidFill>
              <a:srgbClr val="111F33"/>
            </a:solidFill>
            <a:prstDash val="solid"/>
          </a:ln>
        </p:spPr>
      </p:sp>
      <p:sp>
        <p:nvSpPr>
          <p:cNvPr id="16" name="no-3">
            <a:extLst xmlns:a="http://schemas.openxmlformats.org/drawingml/2006/main">
              <a:ext uri="{FF2B5EF4-FFF2-40B4-BE49-F238E27FC236}">
                <a16:creationId xmlns:a16="http://schemas.microsoft.com/office/drawing/2014/main" id="{97D599F3-0FF2-4467-B741-983AEEDE8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17" name="no-text-3">
            <a:extLst xmlns:a="http://schemas.openxmlformats.org/drawingml/2006/main">
              <a:ext uri="{FF2B5EF4-FFF2-40B4-BE49-F238E27FC236}">
                <a16:creationId xmlns:a16="http://schemas.microsoft.com/office/drawing/2014/main" id="{95818959-709B-4DF0-B06F-3113170E2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479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8DC64067-6975-4A68-BBA8-27843B654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检查重复</a:t>
            </a:r>
          </a:p>
        </p:txBody>
      </p:sp>
      <p:sp>
        <p:nvSpPr>
          <p:cNvPr id="19" name="card-body-3">
            <a:extLst xmlns:a="http://schemas.openxmlformats.org/drawingml/2006/main">
              <a:ext uri="{FF2B5EF4-FFF2-40B4-BE49-F238E27FC236}">
                <a16:creationId xmlns:a16="http://schemas.microsoft.com/office/drawing/2014/main" id="{B7C6E6AD-899A-44EB-9FB3-3CB18FC7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671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员工编号、证件号和手机号重复时立即拦截，避免建立两个身份。</a:t>
            </a:r>
          </a:p>
        </p:txBody>
      </p:sp>
    </p:spTree>
    <p:extLst>
      <p:ext uri="{BB962C8B-B14F-4D97-AF65-F5344CB8AC3E}">
        <p14:creationId xmlns:p14="http://schemas.microsoft.com/office/powerpoint/2010/main" val="16642125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ccent">
            <a:extLst xmlns:a="http://schemas.openxmlformats.org/drawingml/2006/main">
              <a:ext uri="{FF2B5EF4-FFF2-40B4-BE49-F238E27FC236}">
                <a16:creationId xmlns:a16="http://schemas.microsoft.com/office/drawing/2014/main" id="{B66147B9-209F-49AE-B165-C3C307FD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step">
            <a:extLst xmlns:a="http://schemas.openxmlformats.org/drawingml/2006/main">
              <a:ext uri="{FF2B5EF4-FFF2-40B4-BE49-F238E27FC236}">
                <a16:creationId xmlns:a16="http://schemas.microsoft.com/office/drawing/2014/main" id="{49AE75EE-2B7F-4E58-BFFE-54257ADAE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E8F9"/>
                </a:solidFill>
              </a:defRPr>
            </a:pPr>
            <a:r>
              <a:rPr sz="1350" b="1">
                <a:solidFill>
                  <a:srgbClr val="67E8F9"/>
                </a:solidFill>
              </a:rPr>
              <a:t>员工登记 · 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AAAB5B9-8B25-4CD5-8435-3664420D6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岗位决定可见范围与操作权限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8632808D-82CC-40E2-8AE8-E7C98342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4A3B8"/>
                </a:solidFill>
              </a:defRPr>
            </a:pPr>
            <a:r>
              <a:rPr sz="1650" b="0">
                <a:solidFill>
                  <a:srgbClr val="94A3B8"/>
                </a:solidFill>
              </a:rPr>
              <a:t>部门、岗位、班次和直属主管必须准确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7EA7E147-A944-4FDC-AB13-6EF7E0513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238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F33"/>
          </a:solidFill>
          <a:ln xmlns:a="http://schemas.openxmlformats.org/drawingml/2006/main" w="0">
            <a:solidFill>
              <a:srgbClr val="111F33"/>
            </a:solidFill>
            <a:prstDash val="solid"/>
          </a:ln>
        </p:spPr>
      </p:sp>
      <p:sp>
        <p:nvSpPr>
          <p:cNvPr id="6" name="no-1">
            <a:extLst xmlns:a="http://schemas.openxmlformats.org/drawingml/2006/main">
              <a:ext uri="{FF2B5EF4-FFF2-40B4-BE49-F238E27FC236}">
                <a16:creationId xmlns:a16="http://schemas.microsoft.com/office/drawing/2014/main" id="{DC3CFDA6-2C41-408D-8976-E65E3C895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7" name="no-text-1">
            <a:extLst xmlns:a="http://schemas.openxmlformats.org/drawingml/2006/main">
              <a:ext uri="{FF2B5EF4-FFF2-40B4-BE49-F238E27FC236}">
                <a16:creationId xmlns:a16="http://schemas.microsoft.com/office/drawing/2014/main" id="{D8984791-0358-4280-8C42-7D656D2A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479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BE1CAC79-026B-4237-8249-60D41A421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选择部门</a:t>
            </a:r>
          </a:p>
        </p:txBody>
      </p:sp>
      <p:sp>
        <p:nvSpPr>
          <p:cNvPr id="9" name="card-body-1">
            <a:extLst xmlns:a="http://schemas.openxmlformats.org/drawingml/2006/main">
              <a:ext uri="{FF2B5EF4-FFF2-40B4-BE49-F238E27FC236}">
                <a16:creationId xmlns:a16="http://schemas.microsoft.com/office/drawing/2014/main" id="{28813072-1EA1-4D06-9B95-C6A0FAE74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从组织架构选择，不允许手工输入不存在的部门。</a:t>
            </a:r>
          </a:p>
        </p:txBody>
      </p:sp>
      <p:sp>
        <p:nvSpPr>
          <p:cNvPr id="10" name="card-2">
            <a:extLst xmlns:a="http://schemas.openxmlformats.org/drawingml/2006/main">
              <a:ext uri="{FF2B5EF4-FFF2-40B4-BE49-F238E27FC236}">
                <a16:creationId xmlns:a16="http://schemas.microsoft.com/office/drawing/2014/main" id="{292DB623-DCEE-4B1C-B49E-D2E045EF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F33"/>
          </a:solidFill>
          <a:ln xmlns:a="http://schemas.openxmlformats.org/drawingml/2006/main" w="0">
            <a:solidFill>
              <a:srgbClr val="111F33"/>
            </a:solidFill>
            <a:prstDash val="solid"/>
          </a:ln>
        </p:spPr>
      </p:sp>
      <p:sp>
        <p:nvSpPr>
          <p:cNvPr id="11" name="no-2">
            <a:extLst xmlns:a="http://schemas.openxmlformats.org/drawingml/2006/main">
              <a:ext uri="{FF2B5EF4-FFF2-40B4-BE49-F238E27FC236}">
                <a16:creationId xmlns:a16="http://schemas.microsoft.com/office/drawing/2014/main" id="{F8FFEF0C-389B-495F-9F06-301FD925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12" name="no-text-2">
            <a:extLst xmlns:a="http://schemas.openxmlformats.org/drawingml/2006/main">
              <a:ext uri="{FF2B5EF4-FFF2-40B4-BE49-F238E27FC236}">
                <a16:creationId xmlns:a16="http://schemas.microsoft.com/office/drawing/2014/main" id="{14DF7B22-383E-43DF-B7A0-885763C93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479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40209B10-84FD-42CE-9A54-166E504B9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909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选择岗位</a:t>
            </a:r>
          </a:p>
        </p:txBody>
      </p:sp>
      <p:sp>
        <p:nvSpPr>
          <p:cNvPr id="14" name="card-body-2">
            <a:extLst xmlns:a="http://schemas.openxmlformats.org/drawingml/2006/main">
              <a:ext uri="{FF2B5EF4-FFF2-40B4-BE49-F238E27FC236}">
                <a16:creationId xmlns:a16="http://schemas.microsoft.com/office/drawing/2014/main" id="{8127E9CE-7677-4E9A-8A13-78F347308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671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岗位自动带出可用系统与操作范围。</a:t>
            </a:r>
          </a:p>
        </p:txBody>
      </p:sp>
      <p:sp>
        <p:nvSpPr>
          <p:cNvPr id="15" name="card-3">
            <a:extLst xmlns:a="http://schemas.openxmlformats.org/drawingml/2006/main">
              <a:ext uri="{FF2B5EF4-FFF2-40B4-BE49-F238E27FC236}">
                <a16:creationId xmlns:a16="http://schemas.microsoft.com/office/drawing/2014/main" id="{0189E6B8-0284-44EC-AE84-46A4CE18F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3238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F33"/>
          </a:solidFill>
          <a:ln xmlns:a="http://schemas.openxmlformats.org/drawingml/2006/main" w="0">
            <a:solidFill>
              <a:srgbClr val="111F33"/>
            </a:solidFill>
            <a:prstDash val="solid"/>
          </a:ln>
        </p:spPr>
      </p:sp>
      <p:sp>
        <p:nvSpPr>
          <p:cNvPr id="16" name="no-3">
            <a:extLst xmlns:a="http://schemas.openxmlformats.org/drawingml/2006/main">
              <a:ext uri="{FF2B5EF4-FFF2-40B4-BE49-F238E27FC236}">
                <a16:creationId xmlns:a16="http://schemas.microsoft.com/office/drawing/2014/main" id="{B49373F5-697A-4930-8C6C-4875B8E26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17" name="no-text-3">
            <a:extLst xmlns:a="http://schemas.openxmlformats.org/drawingml/2006/main">
              <a:ext uri="{FF2B5EF4-FFF2-40B4-BE49-F238E27FC236}">
                <a16:creationId xmlns:a16="http://schemas.microsoft.com/office/drawing/2014/main" id="{C9577ABF-F2E4-42FB-B62D-8CF3C96C5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479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7B90AEE0-864F-44E2-A455-5EAE4CD14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确认主管与班次</a:t>
            </a:r>
          </a:p>
        </p:txBody>
      </p:sp>
      <p:sp>
        <p:nvSpPr>
          <p:cNvPr id="19" name="card-body-3">
            <a:extLst xmlns:a="http://schemas.openxmlformats.org/drawingml/2006/main">
              <a:ext uri="{FF2B5EF4-FFF2-40B4-BE49-F238E27FC236}">
                <a16:creationId xmlns:a16="http://schemas.microsoft.com/office/drawing/2014/main" id="{B0C7A2CF-8906-4606-A046-2CB7AC4B7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671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用于审批、考勤、培训和异常通知。</a:t>
            </a:r>
          </a:p>
        </p:txBody>
      </p:sp>
    </p:spTree>
    <p:extLst>
      <p:ext uri="{BB962C8B-B14F-4D97-AF65-F5344CB8AC3E}">
        <p14:creationId xmlns:p14="http://schemas.microsoft.com/office/powerpoint/2010/main" val="176304719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accent">
            <a:extLst xmlns:a="http://schemas.openxmlformats.org/drawingml/2006/main">
              <a:ext uri="{FF2B5EF4-FFF2-40B4-BE49-F238E27FC236}">
                <a16:creationId xmlns:a16="http://schemas.microsoft.com/office/drawing/2014/main" id="{3262C93A-EFA0-4BBD-A4E4-6FCCC2660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step">
            <a:extLst xmlns:a="http://schemas.openxmlformats.org/drawingml/2006/main">
              <a:ext uri="{FF2B5EF4-FFF2-40B4-BE49-F238E27FC236}">
                <a16:creationId xmlns:a16="http://schemas.microsoft.com/office/drawing/2014/main" id="{505B92A7-3B09-4CD7-8D8C-AD779963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E8F9"/>
                </a:solidFill>
              </a:defRPr>
            </a:pPr>
            <a:r>
              <a:rPr sz="1350" b="1">
                <a:solidFill>
                  <a:srgbClr val="67E8F9"/>
                </a:solidFill>
              </a:rPr>
              <a:t>员工登记 · 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57E9B17-C01C-44D9-9B8B-64F9F4848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用手机完成本人活体采集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A3E95A38-8B42-4A7C-B6EB-41A16144B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4A3B8"/>
                </a:solidFill>
              </a:defRPr>
            </a:pPr>
            <a:r>
              <a:rPr sz="1650" b="0">
                <a:solidFill>
                  <a:srgbClr val="94A3B8"/>
                </a:solidFill>
              </a:rPr>
              <a:t>环境明亮、正视镜头、不要佩戴口罩或墨镜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0FC5719E-D41B-47C1-9A66-0CA47A89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238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F33"/>
          </a:solidFill>
          <a:ln xmlns:a="http://schemas.openxmlformats.org/drawingml/2006/main" w="0">
            <a:solidFill>
              <a:srgbClr val="111F33"/>
            </a:solidFill>
            <a:prstDash val="solid"/>
          </a:ln>
        </p:spPr>
      </p:sp>
      <p:sp>
        <p:nvSpPr>
          <p:cNvPr id="6" name="no-1">
            <a:extLst xmlns:a="http://schemas.openxmlformats.org/drawingml/2006/main">
              <a:ext uri="{FF2B5EF4-FFF2-40B4-BE49-F238E27FC236}">
                <a16:creationId xmlns:a16="http://schemas.microsoft.com/office/drawing/2014/main" id="{C3F78013-3C17-430C-8B6F-E38BA3F74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7" name="no-text-1">
            <a:extLst xmlns:a="http://schemas.openxmlformats.org/drawingml/2006/main">
              <a:ext uri="{FF2B5EF4-FFF2-40B4-BE49-F238E27FC236}">
                <a16:creationId xmlns:a16="http://schemas.microsoft.com/office/drawing/2014/main" id="{C2B51482-C0FE-47FB-8EB0-9CE1E6B62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479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D407C46A-F20F-4BB8-8C5B-54C7E04B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打开录入二维码</a:t>
            </a:r>
          </a:p>
        </p:txBody>
      </p:sp>
      <p:sp>
        <p:nvSpPr>
          <p:cNvPr id="9" name="card-body-1">
            <a:extLst xmlns:a="http://schemas.openxmlformats.org/drawingml/2006/main">
              <a:ext uri="{FF2B5EF4-FFF2-40B4-BE49-F238E27FC236}">
                <a16:creationId xmlns:a16="http://schemas.microsoft.com/office/drawing/2014/main" id="{B57E59F3-8151-4ACE-83A0-16324E250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HR在员工档案中生成一次性人脸录入二维码。</a:t>
            </a:r>
          </a:p>
        </p:txBody>
      </p:sp>
      <p:sp>
        <p:nvSpPr>
          <p:cNvPr id="10" name="card-2">
            <a:extLst xmlns:a="http://schemas.openxmlformats.org/drawingml/2006/main">
              <a:ext uri="{FF2B5EF4-FFF2-40B4-BE49-F238E27FC236}">
                <a16:creationId xmlns:a16="http://schemas.microsoft.com/office/drawing/2014/main" id="{35F5DB5E-6FC5-4884-BBDF-879FE019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F33"/>
          </a:solidFill>
          <a:ln xmlns:a="http://schemas.openxmlformats.org/drawingml/2006/main" w="0">
            <a:solidFill>
              <a:srgbClr val="111F33"/>
            </a:solidFill>
            <a:prstDash val="solid"/>
          </a:ln>
        </p:spPr>
      </p:sp>
      <p:sp>
        <p:nvSpPr>
          <p:cNvPr id="11" name="no-2">
            <a:extLst xmlns:a="http://schemas.openxmlformats.org/drawingml/2006/main">
              <a:ext uri="{FF2B5EF4-FFF2-40B4-BE49-F238E27FC236}">
                <a16:creationId xmlns:a16="http://schemas.microsoft.com/office/drawing/2014/main" id="{6D4DA02F-B34B-4C9E-9A71-40D19615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12" name="no-text-2">
            <a:extLst xmlns:a="http://schemas.openxmlformats.org/drawingml/2006/main">
              <a:ext uri="{FF2B5EF4-FFF2-40B4-BE49-F238E27FC236}">
                <a16:creationId xmlns:a16="http://schemas.microsoft.com/office/drawing/2014/main" id="{3FD85D4B-8A9E-47FB-81AB-A539B491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479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C9227507-2C72-4F73-A846-48B3AF22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909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手机活体采集</a:t>
            </a:r>
          </a:p>
        </p:txBody>
      </p:sp>
      <p:sp>
        <p:nvSpPr>
          <p:cNvPr id="14" name="card-body-2">
            <a:extLst xmlns:a="http://schemas.openxmlformats.org/drawingml/2006/main">
              <a:ext uri="{FF2B5EF4-FFF2-40B4-BE49-F238E27FC236}">
                <a16:creationId xmlns:a16="http://schemas.microsoft.com/office/drawing/2014/main" id="{B785F7EC-7146-4818-A17A-F01D99959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671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员工按提示转头、眨眼。系统只保存加密模板，不作为普通照片使用。</a:t>
            </a:r>
          </a:p>
        </p:txBody>
      </p:sp>
      <p:sp>
        <p:nvSpPr>
          <p:cNvPr id="15" name="card-3">
            <a:extLst xmlns:a="http://schemas.openxmlformats.org/drawingml/2006/main">
              <a:ext uri="{FF2B5EF4-FFF2-40B4-BE49-F238E27FC236}">
                <a16:creationId xmlns:a16="http://schemas.microsoft.com/office/drawing/2014/main" id="{653465C5-76D7-49AE-B0FB-4876EB212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3238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F33"/>
          </a:solidFill>
          <a:ln xmlns:a="http://schemas.openxmlformats.org/drawingml/2006/main" w="0">
            <a:solidFill>
              <a:srgbClr val="111F33"/>
            </a:solidFill>
            <a:prstDash val="solid"/>
          </a:ln>
        </p:spPr>
      </p:sp>
      <p:sp>
        <p:nvSpPr>
          <p:cNvPr id="16" name="no-3">
            <a:extLst xmlns:a="http://schemas.openxmlformats.org/drawingml/2006/main">
              <a:ext uri="{FF2B5EF4-FFF2-40B4-BE49-F238E27FC236}">
                <a16:creationId xmlns:a16="http://schemas.microsoft.com/office/drawing/2014/main" id="{E415DE2A-AD55-4BBE-8614-A53AFC75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17" name="no-text-3">
            <a:extLst xmlns:a="http://schemas.openxmlformats.org/drawingml/2006/main">
              <a:ext uri="{FF2B5EF4-FFF2-40B4-BE49-F238E27FC236}">
                <a16:creationId xmlns:a16="http://schemas.microsoft.com/office/drawing/2014/main" id="{C1C4433A-EC55-494D-A493-D97ABE558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479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CC907ECB-4876-4D61-A7A8-0A389689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现场核对本人</a:t>
            </a:r>
          </a:p>
        </p:txBody>
      </p:sp>
      <p:sp>
        <p:nvSpPr>
          <p:cNvPr id="19" name="card-body-3">
            <a:extLst xmlns:a="http://schemas.openxmlformats.org/drawingml/2006/main">
              <a:ext uri="{FF2B5EF4-FFF2-40B4-BE49-F238E27FC236}">
                <a16:creationId xmlns:a16="http://schemas.microsoft.com/office/drawing/2014/main" id="{1C84F51A-BA54-46E3-B887-143EF5C1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671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HR确认手机画面与证件和本人一致，再提交审核。</a:t>
            </a:r>
          </a:p>
        </p:txBody>
      </p:sp>
    </p:spTree>
    <p:extLst>
      <p:ext uri="{BB962C8B-B14F-4D97-AF65-F5344CB8AC3E}">
        <p14:creationId xmlns:p14="http://schemas.microsoft.com/office/powerpoint/2010/main" val="34972396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ccent">
            <a:extLst xmlns:a="http://schemas.openxmlformats.org/drawingml/2006/main">
              <a:ext uri="{FF2B5EF4-FFF2-40B4-BE49-F238E27FC236}">
                <a16:creationId xmlns:a16="http://schemas.microsoft.com/office/drawing/2014/main" id="{3DFD2499-7045-4E1D-8AF9-7B996A664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step">
            <a:extLst xmlns:a="http://schemas.openxmlformats.org/drawingml/2006/main">
              <a:ext uri="{FF2B5EF4-FFF2-40B4-BE49-F238E27FC236}">
                <a16:creationId xmlns:a16="http://schemas.microsoft.com/office/drawing/2014/main" id="{9123C346-C155-4DE1-97DB-7025FE31E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E8F9"/>
                </a:solidFill>
              </a:defRPr>
            </a:pPr>
            <a:r>
              <a:rPr sz="1350" b="1">
                <a:solidFill>
                  <a:srgbClr val="67E8F9"/>
                </a:solidFill>
              </a:rPr>
              <a:t>员工登记 · 04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F91FB66-6A0F-49C0-A69D-F1377B600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HR审核通过后才允许快速登录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2917B15A-F4CF-408A-ADFF-AE697EC0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4A3B8"/>
                </a:solidFill>
              </a:defRPr>
            </a:pPr>
            <a:r>
              <a:rPr sz="1650" b="0">
                <a:solidFill>
                  <a:srgbClr val="94A3B8"/>
                </a:solidFill>
              </a:rPr>
              <a:t>未审核、停用或离职员工不能使用人脸进入PDA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583C95E7-66BB-4196-81D6-ECF95980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6858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11F33"/>
          </a:solidFill>
          <a:ln xmlns:a="http://schemas.openxmlformats.org/drawingml/2006/main" w="0">
            <a:solidFill>
              <a:srgbClr val="111F33"/>
            </a:solidFill>
            <a:prstDash val="solid"/>
          </a:ln>
        </p:spPr>
      </p:sp>
      <p:sp>
        <p:nvSpPr>
          <p:cNvPr id="6" name="review-title">
            <a:extLst xmlns:a="http://schemas.openxmlformats.org/drawingml/2006/main">
              <a:ext uri="{FF2B5EF4-FFF2-40B4-BE49-F238E27FC236}">
                <a16:creationId xmlns:a16="http://schemas.microsoft.com/office/drawing/2014/main" id="{B30A6A24-C301-4A34-AD21-0B72B0912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5905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8FAFC"/>
                </a:solidFill>
              </a:defRPr>
            </a:pPr>
            <a:r>
              <a:rPr sz="2250" b="1">
                <a:solidFill>
                  <a:srgbClr val="F8FAFC"/>
                </a:solidFill>
              </a:rPr>
              <a:t>审核清单</a:t>
            </a:r>
          </a:p>
        </p:txBody>
      </p:sp>
      <p:sp>
        <p:nvSpPr>
          <p:cNvPr id="7" name="review-list">
            <a:extLst xmlns:a="http://schemas.openxmlformats.org/drawingml/2006/main">
              <a:ext uri="{FF2B5EF4-FFF2-40B4-BE49-F238E27FC236}">
                <a16:creationId xmlns:a16="http://schemas.microsoft.com/office/drawing/2014/main" id="{3D051EF6-BC88-4C78-9AA7-CBA4AABA5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81375"/>
            <a:ext cx="571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CBD5E1"/>
                </a:solidFill>
              </a:rPr>
              <a:t>✓ 员工编号唯一</a:t>
            </a:r>
          </a:p>
          <a:p xmlns:a="http://schemas.openxmlformats.org/drawingml/2006/main">
            <a:pPr algn="l">
              <a:defRPr sz="17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CBD5E1"/>
                </a:solidFill>
              </a:rPr>
              <a:t>✓ 证件与本人一致</a:t>
            </a:r>
          </a:p>
          <a:p xmlns:a="http://schemas.openxmlformats.org/drawingml/2006/main">
            <a:pPr algn="l">
              <a:defRPr sz="17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CBD5E1"/>
                </a:solidFill>
              </a:rPr>
              <a:t>✓ 部门岗位正确</a:t>
            </a:r>
          </a:p>
          <a:p xmlns:a="http://schemas.openxmlformats.org/drawingml/2006/main">
            <a:pPr algn="l">
              <a:defRPr sz="17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CBD5E1"/>
                </a:solidFill>
              </a:rPr>
              <a:t>✓ 人脸质量合格</a:t>
            </a:r>
          </a:p>
          <a:p xmlns:a="http://schemas.openxmlformats.org/drawingml/2006/main">
            <a:pPr algn="l">
              <a:defRPr sz="1725" b="0">
                <a:solidFill>
                  <a:srgbClr val="CBD5E1"/>
                </a:solidFill>
              </a:defRPr>
            </a:pPr>
            <a:r>
              <a:rPr sz="1725" b="0">
                <a:solidFill>
                  <a:srgbClr val="CBD5E1"/>
                </a:solidFill>
              </a:rPr>
              <a:t>✓ 已告知用途和保存规则</a:t>
            </a:r>
          </a:p>
        </p:txBody>
      </p:sp>
      <p:sp>
        <p:nvSpPr>
          <p:cNvPr id="8" name="approved">
            <a:extLst xmlns:a="http://schemas.openxmlformats.org/drawingml/2006/main">
              <a:ext uri="{FF2B5EF4-FFF2-40B4-BE49-F238E27FC236}">
                <a16:creationId xmlns:a16="http://schemas.microsoft.com/office/drawing/2014/main" id="{2452FA93-1724-438D-8D3D-2A7FAB776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95600"/>
            <a:ext cx="2952750" cy="1524000"/>
          </a:xfrm>
          <a:prstGeom xmlns:a="http://schemas.openxmlformats.org/drawingml/2006/main" prst="roundRect">
            <a:avLst>
              <a:gd name="adj" fmla="val 7500"/>
            </a:avLst>
          </a:prstGeom>
          <a:solidFill xmlns:a="http://schemas.openxmlformats.org/drawingml/2006/main">
            <a:srgbClr val="14532D"/>
          </a:solidFill>
          <a:ln xmlns:a="http://schemas.openxmlformats.org/drawingml/2006/main" w="0">
            <a:solidFill>
              <a:srgbClr val="14532D"/>
            </a:solidFill>
            <a:prstDash val="solid"/>
          </a:ln>
        </p:spPr>
      </p:sp>
      <p:sp>
        <p:nvSpPr>
          <p:cNvPr id="9" name="approved-text">
            <a:extLst xmlns:a="http://schemas.openxmlformats.org/drawingml/2006/main">
              <a:ext uri="{FF2B5EF4-FFF2-40B4-BE49-F238E27FC236}">
                <a16:creationId xmlns:a16="http://schemas.microsoft.com/office/drawing/2014/main" id="{3D968BAF-D20B-4F82-9677-0B9573544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0"/>
            <a:ext cx="2381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BBF7D0"/>
                </a:solidFill>
              </a:defRPr>
            </a:pPr>
            <a:r>
              <a:rPr sz="2400" b="1">
                <a:solidFill>
                  <a:srgbClr val="BBF7D0"/>
                </a:solidFill>
              </a:rPr>
              <a:t>审核通过</a:t>
            </a:r>
          </a:p>
          <a:p xmlns:a="http://schemas.openxmlformats.org/drawingml/2006/main">
            <a:pPr algn="ctr">
              <a:defRPr sz="2400" b="1">
                <a:solidFill>
                  <a:srgbClr val="BBF7D0"/>
                </a:solidFill>
              </a:defRPr>
            </a:pPr>
            <a:r>
              <a:rPr sz="2400" b="1">
                <a:solidFill>
                  <a:srgbClr val="BBF7D0"/>
                </a:solidFill>
              </a:rPr>
              <a:t>账号启用</a:t>
            </a:r>
          </a:p>
        </p:txBody>
      </p:sp>
    </p:spTree>
    <p:extLst>
      <p:ext uri="{BB962C8B-B14F-4D97-AF65-F5344CB8AC3E}">
        <p14:creationId xmlns:p14="http://schemas.microsoft.com/office/powerpoint/2010/main" val="12620714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11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accent">
            <a:extLst xmlns:a="http://schemas.openxmlformats.org/drawingml/2006/main">
              <a:ext uri="{FF2B5EF4-FFF2-40B4-BE49-F238E27FC236}">
                <a16:creationId xmlns:a16="http://schemas.microsoft.com/office/drawing/2014/main" id="{1017B5F1-096C-4C51-BFED-80FC4CF1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2D3EE"/>
          </a:solidFill>
          <a:ln xmlns:a="http://schemas.openxmlformats.org/drawingml/2006/main" w="0">
            <a:solidFill>
              <a:srgbClr val="22D3EE"/>
            </a:solidFill>
            <a:prstDash val="solid"/>
          </a:ln>
        </p:spPr>
      </p:sp>
      <p:sp>
        <p:nvSpPr>
          <p:cNvPr id="2" name="step">
            <a:extLst xmlns:a="http://schemas.openxmlformats.org/drawingml/2006/main">
              <a:ext uri="{FF2B5EF4-FFF2-40B4-BE49-F238E27FC236}">
                <a16:creationId xmlns:a16="http://schemas.microsoft.com/office/drawing/2014/main" id="{26A52E05-D2E9-4A7A-B1FB-C8BCBC8C4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7E8F9"/>
                </a:solidFill>
              </a:defRPr>
            </a:pPr>
            <a:r>
              <a:rPr sz="1350" b="1">
                <a:solidFill>
                  <a:srgbClr val="67E8F9"/>
                </a:solidFill>
              </a:rPr>
              <a:t>员工登记 · 05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5E2E89D-C8EF-4882-B21B-3EE91A76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10572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8FAFC"/>
                </a:solidFill>
              </a:defRPr>
            </a:pPr>
            <a:r>
              <a:rPr sz="3300" b="1">
                <a:solidFill>
                  <a:srgbClr val="F8FAFC"/>
                </a:solidFill>
              </a:rPr>
              <a:t>注册完成后这样使用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3FFAB656-5985-4DFD-932D-D2FB11D1D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09725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94A3B8"/>
                </a:solidFill>
              </a:defRPr>
            </a:pPr>
            <a:r>
              <a:rPr sz="1650" b="0">
                <a:solidFill>
                  <a:srgbClr val="94A3B8"/>
                </a:solidFill>
              </a:rPr>
              <a:t>PDA识别只负责登录，业务扫码仍按工位规则执行</a:t>
            </a:r>
          </a:p>
        </p:txBody>
      </p:sp>
      <p:sp>
        <p:nvSpPr>
          <p:cNvPr id="5" name="card-1">
            <a:extLst xmlns:a="http://schemas.openxmlformats.org/drawingml/2006/main">
              <a:ext uri="{FF2B5EF4-FFF2-40B4-BE49-F238E27FC236}">
                <a16:creationId xmlns:a16="http://schemas.microsoft.com/office/drawing/2014/main" id="{D4926FB8-1FF3-4FDB-8C26-4FC71165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3238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F33"/>
          </a:solidFill>
          <a:ln xmlns:a="http://schemas.openxmlformats.org/drawingml/2006/main" w="0">
            <a:solidFill>
              <a:srgbClr val="111F33"/>
            </a:solidFill>
            <a:prstDash val="solid"/>
          </a:ln>
        </p:spPr>
      </p:sp>
      <p:sp>
        <p:nvSpPr>
          <p:cNvPr id="6" name="no-1">
            <a:extLst xmlns:a="http://schemas.openxmlformats.org/drawingml/2006/main">
              <a:ext uri="{FF2B5EF4-FFF2-40B4-BE49-F238E27FC236}">
                <a16:creationId xmlns:a16="http://schemas.microsoft.com/office/drawing/2014/main" id="{BDC9AB2A-6FBB-444E-A95B-DC77399E3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7" name="no-text-1">
            <a:extLst xmlns:a="http://schemas.openxmlformats.org/drawingml/2006/main">
              <a:ext uri="{FF2B5EF4-FFF2-40B4-BE49-F238E27FC236}">
                <a16:creationId xmlns:a16="http://schemas.microsoft.com/office/drawing/2014/main" id="{D0E9E768-5D5E-4171-A2E5-FBD868B1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479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card-title-1">
            <a:extLst xmlns:a="http://schemas.openxmlformats.org/drawingml/2006/main">
              <a:ext uri="{FF2B5EF4-FFF2-40B4-BE49-F238E27FC236}">
                <a16:creationId xmlns:a16="http://schemas.microsoft.com/office/drawing/2014/main" id="{BA112D69-AF3E-4C2A-B49F-34EE3FB2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909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看向摄像头</a:t>
            </a:r>
          </a:p>
        </p:txBody>
      </p:sp>
      <p:sp>
        <p:nvSpPr>
          <p:cNvPr id="9" name="card-body-1">
            <a:extLst xmlns:a="http://schemas.openxmlformats.org/drawingml/2006/main">
              <a:ext uri="{FF2B5EF4-FFF2-40B4-BE49-F238E27FC236}">
                <a16:creationId xmlns:a16="http://schemas.microsoft.com/office/drawing/2014/main" id="{C54042CD-1573-4906-81D1-3F9BBF2F1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671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进入快速登录页，保持脸部完整出现在取景框内。</a:t>
            </a:r>
          </a:p>
        </p:txBody>
      </p:sp>
      <p:sp>
        <p:nvSpPr>
          <p:cNvPr id="10" name="card-2">
            <a:extLst xmlns:a="http://schemas.openxmlformats.org/drawingml/2006/main">
              <a:ext uri="{FF2B5EF4-FFF2-40B4-BE49-F238E27FC236}">
                <a16:creationId xmlns:a16="http://schemas.microsoft.com/office/drawing/2014/main" id="{FEF49662-7114-437D-886F-A1CF4D4A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F33"/>
          </a:solidFill>
          <a:ln xmlns:a="http://schemas.openxmlformats.org/drawingml/2006/main" w="0">
            <a:solidFill>
              <a:srgbClr val="111F33"/>
            </a:solidFill>
            <a:prstDash val="solid"/>
          </a:ln>
        </p:spPr>
      </p:sp>
      <p:sp>
        <p:nvSpPr>
          <p:cNvPr id="11" name="no-2">
            <a:extLst xmlns:a="http://schemas.openxmlformats.org/drawingml/2006/main">
              <a:ext uri="{FF2B5EF4-FFF2-40B4-BE49-F238E27FC236}">
                <a16:creationId xmlns:a16="http://schemas.microsoft.com/office/drawing/2014/main" id="{97D62BD6-0D34-4D94-A60D-469C3555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12" name="no-text-2">
            <a:extLst xmlns:a="http://schemas.openxmlformats.org/drawingml/2006/main">
              <a:ext uri="{FF2B5EF4-FFF2-40B4-BE49-F238E27FC236}">
                <a16:creationId xmlns:a16="http://schemas.microsoft.com/office/drawing/2014/main" id="{F8D72547-2FE9-43E1-BED0-DE6574C49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8479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card-title-2">
            <a:extLst xmlns:a="http://schemas.openxmlformats.org/drawingml/2006/main">
              <a:ext uri="{FF2B5EF4-FFF2-40B4-BE49-F238E27FC236}">
                <a16:creationId xmlns:a16="http://schemas.microsoft.com/office/drawing/2014/main" id="{F0684E14-57F8-429D-8338-EBD2FC8C2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909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确认姓名岗位</a:t>
            </a:r>
          </a:p>
        </p:txBody>
      </p:sp>
      <p:sp>
        <p:nvSpPr>
          <p:cNvPr id="14" name="card-body-2">
            <a:extLst xmlns:a="http://schemas.openxmlformats.org/drawingml/2006/main">
              <a:ext uri="{FF2B5EF4-FFF2-40B4-BE49-F238E27FC236}">
                <a16:creationId xmlns:a16="http://schemas.microsoft.com/office/drawing/2014/main" id="{788A6DCD-A818-4B9F-9911-1EDE66F1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671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识别成功后核对员工姓名、工号和当前工位。</a:t>
            </a:r>
          </a:p>
        </p:txBody>
      </p:sp>
      <p:sp>
        <p:nvSpPr>
          <p:cNvPr id="15" name="card-3">
            <a:extLst xmlns:a="http://schemas.openxmlformats.org/drawingml/2006/main">
              <a:ext uri="{FF2B5EF4-FFF2-40B4-BE49-F238E27FC236}">
                <a16:creationId xmlns:a16="http://schemas.microsoft.com/office/drawing/2014/main" id="{8FFBF947-B933-41FD-B0E0-A2560C633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571750"/>
            <a:ext cx="3238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111F33"/>
          </a:solidFill>
          <a:ln xmlns:a="http://schemas.openxmlformats.org/drawingml/2006/main" w="0">
            <a:solidFill>
              <a:srgbClr val="111F33"/>
            </a:solidFill>
            <a:prstDash val="solid"/>
          </a:ln>
        </p:spPr>
      </p:sp>
      <p:sp>
        <p:nvSpPr>
          <p:cNvPr id="16" name="no-3">
            <a:extLst xmlns:a="http://schemas.openxmlformats.org/drawingml/2006/main">
              <a:ext uri="{FF2B5EF4-FFF2-40B4-BE49-F238E27FC236}">
                <a16:creationId xmlns:a16="http://schemas.microsoft.com/office/drawing/2014/main" id="{27BE78CF-27BA-4D90-BCC5-BF738F2EF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4572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E7490"/>
          </a:solidFill>
          <a:ln xmlns:a="http://schemas.openxmlformats.org/drawingml/2006/main" w="0">
            <a:solidFill>
              <a:srgbClr val="0E7490"/>
            </a:solidFill>
            <a:prstDash val="solid"/>
          </a:ln>
        </p:spPr>
      </p:sp>
      <p:sp>
        <p:nvSpPr>
          <p:cNvPr id="17" name="no-text-3">
            <a:extLst xmlns:a="http://schemas.openxmlformats.org/drawingml/2006/main">
              <a:ext uri="{FF2B5EF4-FFF2-40B4-BE49-F238E27FC236}">
                <a16:creationId xmlns:a16="http://schemas.microsoft.com/office/drawing/2014/main" id="{B44C6669-C293-4A76-B85B-5A4015E6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479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card-title-3">
            <a:extLst xmlns:a="http://schemas.openxmlformats.org/drawingml/2006/main">
              <a:ext uri="{FF2B5EF4-FFF2-40B4-BE49-F238E27FC236}">
                <a16:creationId xmlns:a16="http://schemas.microsoft.com/office/drawing/2014/main" id="{777443B3-AAE4-49F8-9284-5D6328B5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90900"/>
            <a:ext cx="2781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8FAFC"/>
                </a:solidFill>
              </a:defRPr>
            </a:pPr>
            <a:r>
              <a:rPr sz="1950" b="1">
                <a:solidFill>
                  <a:srgbClr val="F8FAFC"/>
                </a:solidFill>
              </a:rPr>
              <a:t>开始业务操作</a:t>
            </a:r>
          </a:p>
        </p:txBody>
      </p:sp>
      <p:sp>
        <p:nvSpPr>
          <p:cNvPr id="19" name="card-body-3">
            <a:extLst xmlns:a="http://schemas.openxmlformats.org/drawingml/2006/main">
              <a:ext uri="{FF2B5EF4-FFF2-40B4-BE49-F238E27FC236}">
                <a16:creationId xmlns:a16="http://schemas.microsoft.com/office/drawing/2014/main" id="{E4EF5C05-32F2-4307-977B-5A24EDB93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67150"/>
            <a:ext cx="2781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CBD5E1"/>
                </a:solidFill>
              </a:defRPr>
            </a:pPr>
            <a:r>
              <a:rPr sz="1350" b="0">
                <a:solidFill>
                  <a:srgbClr val="CBD5E1"/>
                </a:solidFill>
              </a:rPr>
              <a:t>所有上料、确认和异常处理继续保留员工、时间、设备审计记录。</a:t>
            </a:r>
          </a:p>
        </p:txBody>
      </p:sp>
      <p:sp>
        <p:nvSpPr>
          <p:cNvPr id="20" name="close">
            <a:extLst xmlns:a="http://schemas.openxmlformats.org/drawingml/2006/main">
              <a:ext uri="{FF2B5EF4-FFF2-40B4-BE49-F238E27FC236}">
                <a16:creationId xmlns:a16="http://schemas.microsoft.com/office/drawing/2014/main" id="{332D6149-1A81-4576-89C3-F74D6385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102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BBF24"/>
                </a:solidFill>
              </a:defRPr>
            </a:pPr>
            <a:r>
              <a:rPr sz="1500" b="1">
                <a:solidFill>
                  <a:srgbClr val="FBBF24"/>
                </a:solidFill>
              </a:rPr>
              <a:t>识别失败可使用员工卡或工号登录，不阻断现场工作。</a:t>
            </a:r>
          </a:p>
        </p:txBody>
      </p:sp>
    </p:spTree>
    <p:extLst>
      <p:ext uri="{BB962C8B-B14F-4D97-AF65-F5344CB8AC3E}">
        <p14:creationId xmlns:p14="http://schemas.microsoft.com/office/powerpoint/2010/main" val="17889726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2026-07-23T13:57:41.6530000Z</dcterms:created>
  <dcterms:modified xsi:type="dcterms:W3CDTF">2026-07-23T13:57:41.6530000Z</dcterms:modified>
</coreProperties>
</file>